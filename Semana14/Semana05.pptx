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7AF9EF-4E96-5026-4A94-25ABFDE806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351958F-8268-04FC-2858-3D079004DD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D198967-2874-D3E7-B7C6-EBA8CBFE9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7F67A-E046-4998-A53F-78ABCA25AA4F}" type="datetimeFigureOut">
              <a:rPr lang="es-ES" smtClean="0"/>
              <a:t>14/11/2025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043E814-BEE8-C572-FADD-C3BC1EBF6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B5140D-D803-525A-3D53-C38F7C9B9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5EF60-F794-4E35-9250-895F7DA8129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38125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3DEFEB-EDE4-7F34-57BB-AD6EE3CC3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DEF658C-2459-351C-FA2F-54EC3CDAE5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2113D89-830E-9DFE-0AEC-56721BCF7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7F67A-E046-4998-A53F-78ABCA25AA4F}" type="datetimeFigureOut">
              <a:rPr lang="es-ES" smtClean="0"/>
              <a:t>14/11/2025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0CBFE43-B894-845A-2CFF-79F2777A7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8970E94-BD05-EA41-7E3F-0C9E102AB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5EF60-F794-4E35-9250-895F7DA8129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30001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667BBF-1020-D021-94DF-D78CC705C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202A01A-C029-E8BC-82C0-D4B0C5E3C6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99C91F-FC05-EB17-737F-9C4F9AE1A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7F67A-E046-4998-A53F-78ABCA25AA4F}" type="datetimeFigureOut">
              <a:rPr lang="es-ES" smtClean="0"/>
              <a:t>14/11/2025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50E37E7-C805-ED4C-4255-DCCF114C5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85A82D3-1AFA-90A6-94A7-B613DC558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5EF60-F794-4E35-9250-895F7DA8129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11652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3B7DB5-74B5-F461-34F0-F05D2C91D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D7187F-BF71-50F4-E666-464A0B822A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FC11847-2E55-61F3-6E92-645534ED34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97BA101-7001-E041-A53B-17544B431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7F67A-E046-4998-A53F-78ABCA25AA4F}" type="datetimeFigureOut">
              <a:rPr lang="es-ES" smtClean="0"/>
              <a:t>14/11/2025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3E7B854-66E3-34E0-17A0-43127CFBE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419AA86-6E3F-339F-82F8-3743B7C05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5EF60-F794-4E35-9250-895F7DA8129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61710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590C32-379C-4DC0-8F9D-54D4815D5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BBA1BC3-9DA3-C0AB-2416-4AC729C1C8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B96F409-AEA2-7EA7-3F11-8A51E62BB5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9703A3D-49C4-7A82-A665-A9584B8C2F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D8E4CAF-911E-495A-A243-E7B73F4070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BE25400-89CB-C482-793A-B7473CB3B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7F67A-E046-4998-A53F-78ABCA25AA4F}" type="datetimeFigureOut">
              <a:rPr lang="es-ES" smtClean="0"/>
              <a:t>14/11/2025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3EBD1A1-9A3E-1646-132F-F27B16019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72915C3-B00B-BAE9-6992-471F376C0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5EF60-F794-4E35-9250-895F7DA8129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45696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8EA851-259D-FD94-387A-64E53405A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C04569E-DA61-C48E-C9CE-E9B91D4FE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7F67A-E046-4998-A53F-78ABCA25AA4F}" type="datetimeFigureOut">
              <a:rPr lang="es-ES" smtClean="0"/>
              <a:t>14/11/2025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9A68D29-28D4-EA73-0D67-9DB794853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F244F48-6204-8605-86C1-D8F61C97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5EF60-F794-4E35-9250-895F7DA8129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39310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92E6C98-0CF9-2B26-EF10-18576FB7E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7F67A-E046-4998-A53F-78ABCA25AA4F}" type="datetimeFigureOut">
              <a:rPr lang="es-ES" smtClean="0"/>
              <a:t>14/11/2025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B2F37E5-9FEA-8ECF-F05B-E988253F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E4CCE4D-AD46-353A-6F4F-19AE70AAA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5EF60-F794-4E35-9250-895F7DA8129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14518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E44954-0BEE-4290-6EEC-77335D05B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5C81582-92C1-1E03-42B7-31146BC572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C76210E-6BA1-41C2-D6B9-1D62E38E1E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1A21CE7-532F-4955-D4E3-B97D9621B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7F67A-E046-4998-A53F-78ABCA25AA4F}" type="datetimeFigureOut">
              <a:rPr lang="es-ES" smtClean="0"/>
              <a:t>14/11/2025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87A2C7-5346-FF76-94F1-BAA2948EB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56D7059-E7E1-E8E6-331E-82E24427C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5EF60-F794-4E35-9250-895F7DA8129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42624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C5438C-BB43-1E14-5A31-3FD7C2C6C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C28DF60-4AB6-850B-4C1F-6E69827DF2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93FC986-7EC2-8613-A609-03B98D99E2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4D4E494-6F3F-C6C4-51AB-16C020815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7F67A-E046-4998-A53F-78ABCA25AA4F}" type="datetimeFigureOut">
              <a:rPr lang="es-ES" smtClean="0"/>
              <a:t>14/11/2025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2310F22-910D-13E9-2C77-090B9376F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EC7D87C-B24B-38F3-F5CE-A3C2EA483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5EF60-F794-4E35-9250-895F7DA8129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50629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EE7381-59C3-B120-DED0-9932483DC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0D363B2-0BF3-DCC9-7242-6F024D42B9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D20D90-9CB8-0BCC-1DB6-101101D1D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7F67A-E046-4998-A53F-78ABCA25AA4F}" type="datetimeFigureOut">
              <a:rPr lang="es-ES" smtClean="0"/>
              <a:t>14/11/2025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B43832-F69E-C5AB-7D1C-E1F6EC85B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6DC59D-D100-9E80-D43E-758E223E1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5EF60-F794-4E35-9250-895F7DA8129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37680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388F6DB-C630-2BA1-87AF-293E8EC12B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A55A0B9-A2FA-78A9-5441-A6F4D1011A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06C5A9E-86D2-DA45-4D1C-10AFC17F5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7F67A-E046-4998-A53F-78ABCA25AA4F}" type="datetimeFigureOut">
              <a:rPr lang="es-ES" smtClean="0"/>
              <a:t>14/11/2025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F3087DE-7E0D-0EB1-B847-30453B0FD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73F88F-93B3-F782-C68F-2AC1F84C1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5EF60-F794-4E35-9250-895F7DA8129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58191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F2E8688-58D1-1039-EB86-CA87B15E3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7456D0E-BFF2-4AA1-F9EF-F7FAD01867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020579D-77B2-7468-DB28-087D8B48C3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27F67A-E046-4998-A53F-78ABCA25AA4F}" type="datetimeFigureOut">
              <a:rPr lang="es-ES" smtClean="0"/>
              <a:t>14/11/2025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CD20566-248F-014D-8C59-8B5AB074CB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6ED8CC7-A104-606E-F973-EEEF3EF22D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5EF60-F794-4E35-9250-895F7DA8129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7826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54FD6F3-C2B4-1AA0-316F-16A6F82C6946}"/>
              </a:ext>
            </a:extLst>
          </p:cNvPr>
          <p:cNvSpPr/>
          <p:nvPr/>
        </p:nvSpPr>
        <p:spPr>
          <a:xfrm>
            <a:off x="4961106" y="1225685"/>
            <a:ext cx="2081720" cy="9435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CuentaAbstract</a:t>
            </a:r>
            <a:endParaRPr lang="es-ES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14F0122-DE83-FF89-A97B-D6312946BB15}"/>
              </a:ext>
            </a:extLst>
          </p:cNvPr>
          <p:cNvSpPr/>
          <p:nvPr/>
        </p:nvSpPr>
        <p:spPr>
          <a:xfrm>
            <a:off x="4961106" y="4131012"/>
            <a:ext cx="2081720" cy="9435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CuentaJoven</a:t>
            </a:r>
            <a:endParaRPr lang="es-ES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A1D1C9B-FFEB-431D-90A6-E392E0B4BD4C}"/>
              </a:ext>
            </a:extLst>
          </p:cNvPr>
          <p:cNvSpPr/>
          <p:nvPr/>
        </p:nvSpPr>
        <p:spPr>
          <a:xfrm>
            <a:off x="2574587" y="4131012"/>
            <a:ext cx="2081720" cy="9435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CuentaSueldo</a:t>
            </a:r>
            <a:endParaRPr lang="es-ES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B4D48B2-537C-7DC8-7A5C-62941CE5112A}"/>
              </a:ext>
            </a:extLst>
          </p:cNvPr>
          <p:cNvSpPr/>
          <p:nvPr/>
        </p:nvSpPr>
        <p:spPr>
          <a:xfrm>
            <a:off x="7347625" y="4131011"/>
            <a:ext cx="2081720" cy="9435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Factura</a:t>
            </a:r>
          </a:p>
        </p:txBody>
      </p:sp>
      <p:sp>
        <p:nvSpPr>
          <p:cNvPr id="8" name="Triángulo isósceles 7">
            <a:extLst>
              <a:ext uri="{FF2B5EF4-FFF2-40B4-BE49-F238E27FC236}">
                <a16:creationId xmlns:a16="http://schemas.microsoft.com/office/drawing/2014/main" id="{43609B3E-B59B-AD50-2064-4C89F1CD230F}"/>
              </a:ext>
            </a:extLst>
          </p:cNvPr>
          <p:cNvSpPr/>
          <p:nvPr/>
        </p:nvSpPr>
        <p:spPr>
          <a:xfrm>
            <a:off x="5734455" y="2169267"/>
            <a:ext cx="515566" cy="311285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2" name="Conector: angular 11">
            <a:extLst>
              <a:ext uri="{FF2B5EF4-FFF2-40B4-BE49-F238E27FC236}">
                <a16:creationId xmlns:a16="http://schemas.microsoft.com/office/drawing/2014/main" id="{F4FBE704-EA2F-524D-E20B-51DAD15D54F1}"/>
              </a:ext>
            </a:extLst>
          </p:cNvPr>
          <p:cNvCxnSpPr>
            <a:stCxn id="8" idx="3"/>
            <a:endCxn id="6" idx="0"/>
          </p:cNvCxnSpPr>
          <p:nvPr/>
        </p:nvCxnSpPr>
        <p:spPr>
          <a:xfrm rot="5400000">
            <a:off x="3978613" y="2117387"/>
            <a:ext cx="1650460" cy="2376791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: angular 13">
            <a:extLst>
              <a:ext uri="{FF2B5EF4-FFF2-40B4-BE49-F238E27FC236}">
                <a16:creationId xmlns:a16="http://schemas.microsoft.com/office/drawing/2014/main" id="{B586FFE3-7D5C-41AD-F881-B29583A3A84A}"/>
              </a:ext>
            </a:extLst>
          </p:cNvPr>
          <p:cNvCxnSpPr>
            <a:stCxn id="8" idx="3"/>
            <a:endCxn id="5" idx="0"/>
          </p:cNvCxnSpPr>
          <p:nvPr/>
        </p:nvCxnSpPr>
        <p:spPr>
          <a:xfrm rot="16200000" flipH="1">
            <a:off x="5171872" y="3300918"/>
            <a:ext cx="1650460" cy="9728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: angular 15">
            <a:extLst>
              <a:ext uri="{FF2B5EF4-FFF2-40B4-BE49-F238E27FC236}">
                <a16:creationId xmlns:a16="http://schemas.microsoft.com/office/drawing/2014/main" id="{CAABC479-8C93-6123-8226-D91EF829523A}"/>
              </a:ext>
            </a:extLst>
          </p:cNvPr>
          <p:cNvCxnSpPr>
            <a:stCxn id="8" idx="3"/>
            <a:endCxn id="7" idx="0"/>
          </p:cNvCxnSpPr>
          <p:nvPr/>
        </p:nvCxnSpPr>
        <p:spPr>
          <a:xfrm rot="16200000" flipH="1">
            <a:off x="6365132" y="2107657"/>
            <a:ext cx="1650459" cy="239624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3561A98B-D8D8-8F8A-F137-44BD0AB48C6B}"/>
              </a:ext>
            </a:extLst>
          </p:cNvPr>
          <p:cNvCxnSpPr/>
          <p:nvPr/>
        </p:nvCxnSpPr>
        <p:spPr>
          <a:xfrm flipH="1">
            <a:off x="7300609" y="3343066"/>
            <a:ext cx="2393004" cy="219845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76B425F2-5D4A-9E80-238E-538BFCD2379D}"/>
              </a:ext>
            </a:extLst>
          </p:cNvPr>
          <p:cNvCxnSpPr>
            <a:cxnSpLocks/>
          </p:cNvCxnSpPr>
          <p:nvPr/>
        </p:nvCxnSpPr>
        <p:spPr>
          <a:xfrm flipH="1" flipV="1">
            <a:off x="7324117" y="3657600"/>
            <a:ext cx="2105228" cy="188391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8A0B9403-AC31-B5CC-7BB0-E19346E82170}"/>
              </a:ext>
            </a:extLst>
          </p:cNvPr>
          <p:cNvSpPr txBox="1"/>
          <p:nvPr/>
        </p:nvSpPr>
        <p:spPr>
          <a:xfrm>
            <a:off x="9617413" y="4131010"/>
            <a:ext cx="16439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Por Principio de sustitución de </a:t>
            </a:r>
            <a:r>
              <a:rPr lang="es-ES" dirty="0" err="1"/>
              <a:t>Liskov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894834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B097F8D-5110-CEA8-B76F-5BFC388B2579}"/>
              </a:ext>
            </a:extLst>
          </p:cNvPr>
          <p:cNvSpPr txBox="1"/>
          <p:nvPr/>
        </p:nvSpPr>
        <p:spPr>
          <a:xfrm>
            <a:off x="2840479" y="2188724"/>
            <a:ext cx="16050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bean</a:t>
            </a:r>
            <a:endParaRPr lang="es-ES" sz="36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" name="Cubo 2">
            <a:extLst>
              <a:ext uri="{FF2B5EF4-FFF2-40B4-BE49-F238E27FC236}">
                <a16:creationId xmlns:a16="http://schemas.microsoft.com/office/drawing/2014/main" id="{D46903AE-203C-78F2-FA78-A43D492B864F}"/>
              </a:ext>
            </a:extLst>
          </p:cNvPr>
          <p:cNvSpPr/>
          <p:nvPr/>
        </p:nvSpPr>
        <p:spPr>
          <a:xfrm>
            <a:off x="6682901" y="1972004"/>
            <a:ext cx="2733473" cy="1079770"/>
          </a:xfrm>
          <a:prstGeom prst="cube">
            <a:avLst>
              <a:gd name="adj" fmla="val 1509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400" dirty="0"/>
              <a:t>Objeto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EDFC34A1-EB47-5667-0E9D-2CA6F9840870}"/>
              </a:ext>
            </a:extLst>
          </p:cNvPr>
          <p:cNvCxnSpPr>
            <a:stCxn id="3" idx="2"/>
          </p:cNvCxnSpPr>
          <p:nvPr/>
        </p:nvCxnSpPr>
        <p:spPr>
          <a:xfrm flipH="1">
            <a:off x="4163438" y="2593358"/>
            <a:ext cx="2519463" cy="13655"/>
          </a:xfrm>
          <a:prstGeom prst="straightConnector1">
            <a:avLst/>
          </a:prstGeom>
          <a:ln w="57150">
            <a:solidFill>
              <a:schemeClr val="accent2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7F26EC78-83F6-9A51-32DC-808A076520B8}"/>
              </a:ext>
            </a:extLst>
          </p:cNvPr>
          <p:cNvSpPr txBox="1"/>
          <p:nvPr/>
        </p:nvSpPr>
        <p:spPr>
          <a:xfrm>
            <a:off x="6750996" y="3167390"/>
            <a:ext cx="368678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>
                <a:solidFill>
                  <a:schemeClr val="accent1">
                    <a:lumMod val="75000"/>
                  </a:schemeClr>
                </a:solidFill>
              </a:rPr>
              <a:t>Tipo: Clase2</a:t>
            </a:r>
          </a:p>
          <a:p>
            <a:pPr marL="457200" indent="-457200">
              <a:buFontTx/>
              <a:buChar char="-"/>
            </a:pPr>
            <a:r>
              <a:rPr lang="es-ES" sz="2800" dirty="0">
                <a:solidFill>
                  <a:schemeClr val="accent1">
                    <a:lumMod val="75000"/>
                  </a:schemeClr>
                </a:solidFill>
              </a:rPr>
              <a:t>sumar(…)</a:t>
            </a:r>
          </a:p>
          <a:p>
            <a:pPr marL="457200" indent="-457200">
              <a:buFontTx/>
              <a:buChar char="-"/>
            </a:pPr>
            <a:r>
              <a:rPr lang="es-ES" sz="2800" dirty="0">
                <a:solidFill>
                  <a:schemeClr val="accent1">
                    <a:lumMod val="75000"/>
                  </a:schemeClr>
                </a:solidFill>
              </a:rPr>
              <a:t>Factorial(…)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E96A541-BF73-8BDB-7FE3-4209DF09B9E3}"/>
              </a:ext>
            </a:extLst>
          </p:cNvPr>
          <p:cNvSpPr txBox="1"/>
          <p:nvPr/>
        </p:nvSpPr>
        <p:spPr>
          <a:xfrm>
            <a:off x="2710774" y="3167390"/>
            <a:ext cx="368678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>
                <a:solidFill>
                  <a:schemeClr val="accent1">
                    <a:lumMod val="75000"/>
                  </a:schemeClr>
                </a:solidFill>
              </a:rPr>
              <a:t>Tipo: Clase1</a:t>
            </a:r>
          </a:p>
          <a:p>
            <a:pPr marL="457200" indent="-457200">
              <a:buFontTx/>
              <a:buChar char="-"/>
            </a:pPr>
            <a:r>
              <a:rPr lang="es-ES" sz="2800" dirty="0">
                <a:solidFill>
                  <a:schemeClr val="accent1">
                    <a:lumMod val="75000"/>
                  </a:schemeClr>
                </a:solidFill>
              </a:rPr>
              <a:t>sumar(…)</a:t>
            </a:r>
          </a:p>
          <a:p>
            <a:pPr marL="457200" indent="-457200">
              <a:buFontTx/>
              <a:buChar char="-"/>
            </a:pPr>
            <a:endParaRPr lang="es-ES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1046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B097F8D-5110-CEA8-B76F-5BFC388B2579}"/>
              </a:ext>
            </a:extLst>
          </p:cNvPr>
          <p:cNvSpPr txBox="1"/>
          <p:nvPr/>
        </p:nvSpPr>
        <p:spPr>
          <a:xfrm>
            <a:off x="643930" y="409619"/>
            <a:ext cx="10905339" cy="5802338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s-ES" sz="3200" dirty="0">
                <a:latin typeface="Cascadia Code" panose="020B0609020000020004" pitchFamily="49" charset="0"/>
                <a:cs typeface="Cascadia Code" panose="020B0609020000020004" pitchFamily="49" charset="0"/>
              </a:rPr>
              <a:t>Clase2 </a:t>
            </a:r>
            <a:r>
              <a:rPr lang="es-ES" sz="32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bean</a:t>
            </a:r>
            <a:r>
              <a:rPr lang="es-ES" sz="3200" dirty="0">
                <a:latin typeface="Cascadia Code" panose="020B0609020000020004" pitchFamily="49" charset="0"/>
                <a:cs typeface="Cascadia Code" panose="020B0609020000020004" pitchFamily="49" charset="0"/>
              </a:rPr>
              <a:t>;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s-ES" sz="3200" dirty="0" err="1">
                <a:solidFill>
                  <a:srgbClr val="C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Bean</a:t>
            </a:r>
            <a:r>
              <a:rPr lang="es-ES" sz="3200" dirty="0">
                <a:solidFill>
                  <a:srgbClr val="C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= new Clase1(); // Error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s-ES" sz="32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Bean</a:t>
            </a:r>
            <a:r>
              <a:rPr lang="es-ES" sz="3200" dirty="0">
                <a:latin typeface="Cascadia Code" panose="020B0609020000020004" pitchFamily="49" charset="0"/>
                <a:cs typeface="Cascadia Code" panose="020B0609020000020004" pitchFamily="49" charset="0"/>
              </a:rPr>
              <a:t> = new Clase3();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s-ES" sz="3200" dirty="0">
                <a:latin typeface="Cascadia Code" panose="020B0609020000020004" pitchFamily="49" charset="0"/>
                <a:cs typeface="Cascadia Code" panose="020B0609020000020004" pitchFamily="49" charset="0"/>
              </a:rPr>
              <a:t>Clase3 alfa = new Clase3();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s-ES" sz="32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bean</a:t>
            </a:r>
            <a:r>
              <a:rPr lang="es-ES" sz="3200" dirty="0">
                <a:latin typeface="Cascadia Code" panose="020B0609020000020004" pitchFamily="49" charset="0"/>
                <a:cs typeface="Cascadia Code" panose="020B0609020000020004" pitchFamily="49" charset="0"/>
              </a:rPr>
              <a:t> = alfa;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s-ES" sz="32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758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C95188E-281E-B548-1574-2F2651ECACE0}"/>
              </a:ext>
            </a:extLst>
          </p:cNvPr>
          <p:cNvSpPr txBox="1"/>
          <p:nvPr/>
        </p:nvSpPr>
        <p:spPr>
          <a:xfrm>
            <a:off x="618836" y="540329"/>
            <a:ext cx="109543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rgbClr val="7030A0"/>
                </a:solidFill>
              </a:rPr>
              <a:t>CONSULTAR LOS ALUMNOS MATRICULADOS EN UN CURSO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3060F3B-943F-B172-66D3-385102D2CC7D}"/>
              </a:ext>
            </a:extLst>
          </p:cNvPr>
          <p:cNvSpPr/>
          <p:nvPr/>
        </p:nvSpPr>
        <p:spPr>
          <a:xfrm>
            <a:off x="3574471" y="1824183"/>
            <a:ext cx="4627419" cy="262774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dirty="0"/>
              <a:t>CONSULTAR MATRICULADOS</a:t>
            </a:r>
          </a:p>
        </p:txBody>
      </p:sp>
      <p:sp>
        <p:nvSpPr>
          <p:cNvPr id="4" name="Flecha: a la derecha 3">
            <a:extLst>
              <a:ext uri="{FF2B5EF4-FFF2-40B4-BE49-F238E27FC236}">
                <a16:creationId xmlns:a16="http://schemas.microsoft.com/office/drawing/2014/main" id="{08A8CDEC-1DD7-9AF8-2741-B3C232DD623A}"/>
              </a:ext>
            </a:extLst>
          </p:cNvPr>
          <p:cNvSpPr/>
          <p:nvPr/>
        </p:nvSpPr>
        <p:spPr>
          <a:xfrm>
            <a:off x="2687781" y="2521528"/>
            <a:ext cx="886690" cy="96058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E94413F-B46F-405E-8867-132CBF395672}"/>
              </a:ext>
            </a:extLst>
          </p:cNvPr>
          <p:cNvSpPr txBox="1"/>
          <p:nvPr/>
        </p:nvSpPr>
        <p:spPr>
          <a:xfrm>
            <a:off x="1446544" y="2678653"/>
            <a:ext cx="12412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CODIGO </a:t>
            </a:r>
          </a:p>
          <a:p>
            <a:r>
              <a:rPr lang="es-ES" dirty="0"/>
              <a:t>DEL CURSO</a:t>
            </a:r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A717BC67-C729-9FB6-82AC-722BD3E2A472}"/>
              </a:ext>
            </a:extLst>
          </p:cNvPr>
          <p:cNvSpPr/>
          <p:nvPr/>
        </p:nvSpPr>
        <p:spPr>
          <a:xfrm>
            <a:off x="8238835" y="2521528"/>
            <a:ext cx="886690" cy="96058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82BC8C6-3702-E0A0-868D-C62C6CF29DB6}"/>
              </a:ext>
            </a:extLst>
          </p:cNvPr>
          <p:cNvSpPr txBox="1"/>
          <p:nvPr/>
        </p:nvSpPr>
        <p:spPr>
          <a:xfrm>
            <a:off x="9162470" y="2540108"/>
            <a:ext cx="16994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LA LISTA DE ALUMNOS MATRICULADOS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BEBC2B8-3258-BB01-14F0-85784E81B0EF}"/>
              </a:ext>
            </a:extLst>
          </p:cNvPr>
          <p:cNvSpPr txBox="1"/>
          <p:nvPr/>
        </p:nvSpPr>
        <p:spPr>
          <a:xfrm>
            <a:off x="3574471" y="4765964"/>
            <a:ext cx="46274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s-ES" b="1" dirty="0"/>
              <a:t>RESTRICCIONES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s-ES" sz="1600" dirty="0"/>
              <a:t>El curso exista y tenga estudiantes matriculados, de lo contrario retorna una lista vacía.</a:t>
            </a:r>
          </a:p>
        </p:txBody>
      </p:sp>
    </p:spTree>
    <p:extLst>
      <p:ext uri="{BB962C8B-B14F-4D97-AF65-F5344CB8AC3E}">
        <p14:creationId xmlns:p14="http://schemas.microsoft.com/office/powerpoint/2010/main" val="3193423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B5592-072F-C7C3-30D4-D03BCC7DD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D936F0D-0670-EB8B-AA5B-036A8BA5C779}"/>
              </a:ext>
            </a:extLst>
          </p:cNvPr>
          <p:cNvSpPr txBox="1"/>
          <p:nvPr/>
        </p:nvSpPr>
        <p:spPr>
          <a:xfrm>
            <a:off x="618836" y="540329"/>
            <a:ext cx="109543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rgbClr val="7030A0"/>
                </a:solidFill>
              </a:rPr>
              <a:t>MATRICULA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9A99423-3839-7033-97DC-63B6F41A0DF7}"/>
              </a:ext>
            </a:extLst>
          </p:cNvPr>
          <p:cNvSpPr/>
          <p:nvPr/>
        </p:nvSpPr>
        <p:spPr>
          <a:xfrm>
            <a:off x="3574471" y="1824183"/>
            <a:ext cx="4627419" cy="262774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dirty="0"/>
              <a:t>MATRICULA</a:t>
            </a:r>
          </a:p>
        </p:txBody>
      </p:sp>
      <p:sp>
        <p:nvSpPr>
          <p:cNvPr id="4" name="Flecha: a la derecha 3">
            <a:extLst>
              <a:ext uri="{FF2B5EF4-FFF2-40B4-BE49-F238E27FC236}">
                <a16:creationId xmlns:a16="http://schemas.microsoft.com/office/drawing/2014/main" id="{F487CE1C-D4FF-970D-0278-F03344B928B3}"/>
              </a:ext>
            </a:extLst>
          </p:cNvPr>
          <p:cNvSpPr/>
          <p:nvPr/>
        </p:nvSpPr>
        <p:spPr>
          <a:xfrm>
            <a:off x="2687781" y="2521528"/>
            <a:ext cx="886690" cy="96058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23007F8-89AE-173B-26E9-15056DC2A384}"/>
              </a:ext>
            </a:extLst>
          </p:cNvPr>
          <p:cNvSpPr txBox="1"/>
          <p:nvPr/>
        </p:nvSpPr>
        <p:spPr>
          <a:xfrm>
            <a:off x="1077089" y="2309275"/>
            <a:ext cx="1472148" cy="13849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s-ES" sz="1400" dirty="0"/>
              <a:t>DTO:</a:t>
            </a:r>
          </a:p>
          <a:p>
            <a:pPr marL="285750" indent="-285750">
              <a:buFontTx/>
              <a:buChar char="-"/>
            </a:pPr>
            <a:r>
              <a:rPr lang="es-ES" sz="1400" dirty="0" err="1"/>
              <a:t>idCurso</a:t>
            </a:r>
            <a:endParaRPr lang="es-ES" sz="1400" dirty="0"/>
          </a:p>
          <a:p>
            <a:pPr marL="285750" indent="-285750">
              <a:buFontTx/>
              <a:buChar char="-"/>
            </a:pPr>
            <a:r>
              <a:rPr lang="es-ES" sz="1400" dirty="0" err="1"/>
              <a:t>idAlumno</a:t>
            </a:r>
            <a:endParaRPr lang="es-ES" sz="1400" dirty="0"/>
          </a:p>
          <a:p>
            <a:pPr marL="285750" indent="-285750">
              <a:buFontTx/>
              <a:buChar char="-"/>
            </a:pPr>
            <a:r>
              <a:rPr lang="es-ES" sz="1400" dirty="0" err="1"/>
              <a:t>idEmpleado</a:t>
            </a:r>
            <a:endParaRPr lang="es-ES" sz="1400" dirty="0"/>
          </a:p>
          <a:p>
            <a:pPr marL="285750" indent="-285750">
              <a:buFontTx/>
              <a:buChar char="-"/>
            </a:pPr>
            <a:r>
              <a:rPr lang="es-ES" sz="1400" dirty="0"/>
              <a:t>Tipo</a:t>
            </a:r>
          </a:p>
          <a:p>
            <a:pPr marL="285750" indent="-285750">
              <a:buFontTx/>
              <a:buChar char="-"/>
            </a:pPr>
            <a:r>
              <a:rPr lang="es-ES" sz="1400" dirty="0"/>
              <a:t>cuotas</a:t>
            </a:r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A4EF936E-2D7B-21B6-2164-400C8A53F2C3}"/>
              </a:ext>
            </a:extLst>
          </p:cNvPr>
          <p:cNvSpPr/>
          <p:nvPr/>
        </p:nvSpPr>
        <p:spPr>
          <a:xfrm>
            <a:off x="8238835" y="2521528"/>
            <a:ext cx="886690" cy="96058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BE80E25-8300-8205-3A21-47942790450E}"/>
              </a:ext>
            </a:extLst>
          </p:cNvPr>
          <p:cNvSpPr txBox="1"/>
          <p:nvPr/>
        </p:nvSpPr>
        <p:spPr>
          <a:xfrm>
            <a:off x="3574471" y="4765964"/>
            <a:ext cx="4627419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s-ES" b="1" dirty="0"/>
              <a:t>RESTRICCIONES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s-ES" sz="1600" dirty="0"/>
              <a:t>Debe validar los datos que sean correctos.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s-ES" sz="1600" dirty="0"/>
              <a:t>Luego debe </a:t>
            </a:r>
            <a:r>
              <a:rPr lang="es-ES" sz="1600" b="1" dirty="0"/>
              <a:t>registrar la matricula </a:t>
            </a:r>
            <a:r>
              <a:rPr lang="es-ES" sz="1600" dirty="0"/>
              <a:t>y </a:t>
            </a:r>
            <a:r>
              <a:rPr lang="es-ES" sz="1600" b="1" dirty="0"/>
              <a:t>actualizar la cantidad de matriculados</a:t>
            </a:r>
            <a:r>
              <a:rPr lang="es-ES" sz="1600" dirty="0"/>
              <a:t> en el curso.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49F6BF0-E25F-E651-61E1-61D5E8F586A1}"/>
              </a:ext>
            </a:extLst>
          </p:cNvPr>
          <p:cNvSpPr txBox="1"/>
          <p:nvPr/>
        </p:nvSpPr>
        <p:spPr>
          <a:xfrm>
            <a:off x="9227124" y="2093831"/>
            <a:ext cx="1472148" cy="18158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s-ES" sz="1400" dirty="0"/>
              <a:t>DTO:</a:t>
            </a:r>
          </a:p>
          <a:p>
            <a:pPr marL="285750" indent="-285750">
              <a:buFontTx/>
              <a:buChar char="-"/>
            </a:pPr>
            <a:r>
              <a:rPr lang="es-ES" sz="1400" dirty="0" err="1"/>
              <a:t>idCurso</a:t>
            </a:r>
            <a:endParaRPr lang="es-ES" sz="1400" dirty="0"/>
          </a:p>
          <a:p>
            <a:pPr marL="285750" indent="-285750">
              <a:buFontTx/>
              <a:buChar char="-"/>
            </a:pPr>
            <a:r>
              <a:rPr lang="es-ES" sz="1400" dirty="0" err="1"/>
              <a:t>idAlumno</a:t>
            </a:r>
            <a:endParaRPr lang="es-ES" sz="1400" dirty="0"/>
          </a:p>
          <a:p>
            <a:pPr marL="285750" indent="-285750">
              <a:buFontTx/>
              <a:buChar char="-"/>
            </a:pPr>
            <a:r>
              <a:rPr lang="es-ES" sz="1400" dirty="0" err="1"/>
              <a:t>idEmpleado</a:t>
            </a:r>
            <a:endParaRPr lang="es-ES" sz="1400" dirty="0"/>
          </a:p>
          <a:p>
            <a:pPr marL="285750" indent="-285750">
              <a:buFontTx/>
              <a:buChar char="-"/>
            </a:pPr>
            <a:r>
              <a:rPr lang="es-ES" sz="1400" dirty="0"/>
              <a:t>tipo</a:t>
            </a:r>
          </a:p>
          <a:p>
            <a:pPr marL="285750" indent="-285750">
              <a:buFontTx/>
              <a:buChar char="-"/>
            </a:pPr>
            <a:r>
              <a:rPr lang="es-ES" sz="1400" dirty="0"/>
              <a:t>cuotas</a:t>
            </a:r>
          </a:p>
          <a:p>
            <a:pPr marL="285750" indent="-285750">
              <a:buFontTx/>
              <a:buChar char="-"/>
            </a:pPr>
            <a:r>
              <a:rPr lang="es-ES" sz="1400" dirty="0"/>
              <a:t>precio</a:t>
            </a:r>
          </a:p>
          <a:p>
            <a:pPr marL="285750" indent="-285750">
              <a:buFontTx/>
              <a:buChar char="-"/>
            </a:pPr>
            <a:r>
              <a:rPr lang="es-ES" sz="1400" dirty="0"/>
              <a:t>estado</a:t>
            </a:r>
          </a:p>
        </p:txBody>
      </p:sp>
    </p:spTree>
    <p:extLst>
      <p:ext uri="{BB962C8B-B14F-4D97-AF65-F5344CB8AC3E}">
        <p14:creationId xmlns:p14="http://schemas.microsoft.com/office/powerpoint/2010/main" val="252305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7B545-5863-9F97-1B57-6A0C9B456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650A4C2D-14C7-894F-F2D8-0D608B3E208F}"/>
              </a:ext>
            </a:extLst>
          </p:cNvPr>
          <p:cNvSpPr/>
          <p:nvPr/>
        </p:nvSpPr>
        <p:spPr>
          <a:xfrm>
            <a:off x="4221018" y="1002148"/>
            <a:ext cx="3749963" cy="214745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600" dirty="0"/>
              <a:t>MATRICULAR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CA7ABE0-810D-68B2-E907-20C25BB768C1}"/>
              </a:ext>
            </a:extLst>
          </p:cNvPr>
          <p:cNvSpPr txBox="1"/>
          <p:nvPr/>
        </p:nvSpPr>
        <p:spPr>
          <a:xfrm>
            <a:off x="8155710" y="1256145"/>
            <a:ext cx="24661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s-ES" dirty="0"/>
              <a:t>Iniciar </a:t>
            </a:r>
            <a:r>
              <a:rPr lang="es-ES" dirty="0" err="1"/>
              <a:t>Tx</a:t>
            </a:r>
            <a:endParaRPr lang="es-E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ES" dirty="0"/>
              <a:t>Finalizar </a:t>
            </a:r>
            <a:r>
              <a:rPr lang="es-ES" dirty="0" err="1"/>
              <a:t>Tx</a:t>
            </a:r>
            <a:endParaRPr lang="es-ES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CAE2286-3750-5EC7-AF1A-F559124B766D}"/>
              </a:ext>
            </a:extLst>
          </p:cNvPr>
          <p:cNvSpPr/>
          <p:nvPr/>
        </p:nvSpPr>
        <p:spPr>
          <a:xfrm>
            <a:off x="429492" y="4306455"/>
            <a:ext cx="2082800" cy="662709"/>
          </a:xfrm>
          <a:prstGeom prst="rect">
            <a:avLst/>
          </a:prstGeom>
          <a:solidFill>
            <a:schemeClr val="accent1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 err="1"/>
              <a:t>validarCurso</a:t>
            </a:r>
            <a:endParaRPr lang="es-ES" sz="1600" dirty="0"/>
          </a:p>
        </p:txBody>
      </p:sp>
      <p:cxnSp>
        <p:nvCxnSpPr>
          <p:cNvPr id="12" name="Conector: angular 11">
            <a:extLst>
              <a:ext uri="{FF2B5EF4-FFF2-40B4-BE49-F238E27FC236}">
                <a16:creationId xmlns:a16="http://schemas.microsoft.com/office/drawing/2014/main" id="{DF7EE5BA-5C63-4A8E-4DE2-F18EEB23C8B6}"/>
              </a:ext>
            </a:extLst>
          </p:cNvPr>
          <p:cNvCxnSpPr>
            <a:stCxn id="3" idx="2"/>
            <a:endCxn id="10" idx="0"/>
          </p:cNvCxnSpPr>
          <p:nvPr/>
        </p:nvCxnSpPr>
        <p:spPr>
          <a:xfrm rot="5400000">
            <a:off x="3205019" y="1415474"/>
            <a:ext cx="1156854" cy="4625108"/>
          </a:xfrm>
          <a:prstGeom prst="bentConnector3">
            <a:avLst>
              <a:gd name="adj1" fmla="val 5798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ángulo 12">
            <a:extLst>
              <a:ext uri="{FF2B5EF4-FFF2-40B4-BE49-F238E27FC236}">
                <a16:creationId xmlns:a16="http://schemas.microsoft.com/office/drawing/2014/main" id="{D1B6FF95-6ECA-3E89-7EF9-4853AF385988}"/>
              </a:ext>
            </a:extLst>
          </p:cNvPr>
          <p:cNvSpPr/>
          <p:nvPr/>
        </p:nvSpPr>
        <p:spPr>
          <a:xfrm>
            <a:off x="1810328" y="5336310"/>
            <a:ext cx="2082800" cy="662709"/>
          </a:xfrm>
          <a:prstGeom prst="rect">
            <a:avLst/>
          </a:prstGeom>
          <a:solidFill>
            <a:schemeClr val="accent1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 err="1"/>
              <a:t>validarAlumno</a:t>
            </a:r>
            <a:endParaRPr lang="es-ES" sz="1600" dirty="0"/>
          </a:p>
        </p:txBody>
      </p:sp>
      <p:cxnSp>
        <p:nvCxnSpPr>
          <p:cNvPr id="15" name="Conector: angular 14">
            <a:extLst>
              <a:ext uri="{FF2B5EF4-FFF2-40B4-BE49-F238E27FC236}">
                <a16:creationId xmlns:a16="http://schemas.microsoft.com/office/drawing/2014/main" id="{2C9EA1FB-2B4F-AEA4-03AE-50CD7AF5A919}"/>
              </a:ext>
            </a:extLst>
          </p:cNvPr>
          <p:cNvCxnSpPr>
            <a:stCxn id="3" idx="2"/>
            <a:endCxn id="13" idx="0"/>
          </p:cNvCxnSpPr>
          <p:nvPr/>
        </p:nvCxnSpPr>
        <p:spPr>
          <a:xfrm rot="5400000">
            <a:off x="3380510" y="2620819"/>
            <a:ext cx="2186709" cy="3244272"/>
          </a:xfrm>
          <a:prstGeom prst="bentConnector3">
            <a:avLst>
              <a:gd name="adj1" fmla="val 3057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ángulo 17">
            <a:extLst>
              <a:ext uri="{FF2B5EF4-FFF2-40B4-BE49-F238E27FC236}">
                <a16:creationId xmlns:a16="http://schemas.microsoft.com/office/drawing/2014/main" id="{584704FD-8C1F-7922-CCAB-11E1595EF2AF}"/>
              </a:ext>
            </a:extLst>
          </p:cNvPr>
          <p:cNvSpPr/>
          <p:nvPr/>
        </p:nvSpPr>
        <p:spPr>
          <a:xfrm>
            <a:off x="3179618" y="4306455"/>
            <a:ext cx="2082800" cy="662709"/>
          </a:xfrm>
          <a:prstGeom prst="rect">
            <a:avLst/>
          </a:prstGeom>
          <a:solidFill>
            <a:schemeClr val="accent1"/>
          </a:solidFill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600" dirty="0" err="1"/>
              <a:t>validarMatricula</a:t>
            </a:r>
            <a:endParaRPr lang="es-ES" sz="1600" dirty="0"/>
          </a:p>
        </p:txBody>
      </p:sp>
      <p:cxnSp>
        <p:nvCxnSpPr>
          <p:cNvPr id="20" name="Conector: angular 19">
            <a:extLst>
              <a:ext uri="{FF2B5EF4-FFF2-40B4-BE49-F238E27FC236}">
                <a16:creationId xmlns:a16="http://schemas.microsoft.com/office/drawing/2014/main" id="{8FAA2A0E-FCBE-621F-B05A-704FED5856DB}"/>
              </a:ext>
            </a:extLst>
          </p:cNvPr>
          <p:cNvCxnSpPr>
            <a:stCxn id="3" idx="2"/>
            <a:endCxn id="18" idx="0"/>
          </p:cNvCxnSpPr>
          <p:nvPr/>
        </p:nvCxnSpPr>
        <p:spPr>
          <a:xfrm rot="5400000">
            <a:off x="4580082" y="2790537"/>
            <a:ext cx="1156854" cy="1874982"/>
          </a:xfrm>
          <a:prstGeom prst="bentConnector3">
            <a:avLst>
              <a:gd name="adj1" fmla="val 5798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uadroTexto 28">
            <a:extLst>
              <a:ext uri="{FF2B5EF4-FFF2-40B4-BE49-F238E27FC236}">
                <a16:creationId xmlns:a16="http://schemas.microsoft.com/office/drawing/2014/main" id="{12DA5C2D-7C89-1AC5-76CE-45D9EAFA9156}"/>
              </a:ext>
            </a:extLst>
          </p:cNvPr>
          <p:cNvSpPr txBox="1"/>
          <p:nvPr/>
        </p:nvSpPr>
        <p:spPr>
          <a:xfrm>
            <a:off x="563418" y="265670"/>
            <a:ext cx="11065164" cy="369332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ES" b="1" dirty="0">
                <a:latin typeface="Aharoni" panose="02010803020104030203" pitchFamily="2" charset="-79"/>
                <a:cs typeface="Aharoni" panose="02010803020104030203" pitchFamily="2" charset="-79"/>
              </a:rPr>
              <a:t>DIVIDE Y VENCERAS</a:t>
            </a:r>
          </a:p>
        </p:txBody>
      </p:sp>
    </p:spTree>
    <p:extLst>
      <p:ext uri="{BB962C8B-B14F-4D97-AF65-F5344CB8AC3E}">
        <p14:creationId xmlns:p14="http://schemas.microsoft.com/office/powerpoint/2010/main" val="231306108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</TotalTime>
  <Words>136</Words>
  <Application>Microsoft Office PowerPoint</Application>
  <PresentationFormat>Panorámica</PresentationFormat>
  <Paragraphs>50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3" baseType="lpstr">
      <vt:lpstr>Aharoni</vt:lpstr>
      <vt:lpstr>Arial</vt:lpstr>
      <vt:lpstr>Calibri</vt:lpstr>
      <vt:lpstr>Calibri Light</vt:lpstr>
      <vt:lpstr>Cascadia Code</vt:lpstr>
      <vt:lpstr>Wingdings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 Gustavo Coronel Castillo</dc:creator>
  <cp:lastModifiedBy>Gustavo Coronel</cp:lastModifiedBy>
  <cp:revision>5</cp:revision>
  <dcterms:created xsi:type="dcterms:W3CDTF">2024-09-26T13:38:14Z</dcterms:created>
  <dcterms:modified xsi:type="dcterms:W3CDTF">2025-11-14T21:57:21Z</dcterms:modified>
</cp:coreProperties>
</file>